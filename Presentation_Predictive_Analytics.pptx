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Predictive Analytics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5A55A"/>
                </a:solidFill>
              </a:defRPr>
            </a:pPr>
            <a:r>
              <a:t>Does Hyperscaler Capex Growth Predict</a:t>
            </a:r>
            <a:br/>
            <a:r>
              <a:t>Cloud Segment Revenue Growth?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An Empirical Time-Series &amp; Econometric Analysis of Amazon AWS, Google Cloud, and 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1B5E6B"/>
                </a:solidFill>
              </a:defRPr>
            </a:pPr>
            <a:r>
              <a:t>Tita Noviana (40% • 24120500011)   |   Suci Fransisca Sisilia R (40% • 24120500008)   |   Nadira Dika Kaivalya (20% • 24110500023)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A55A"/>
                </a:solidFill>
              </a:defRPr>
            </a:pPr>
            <a:r>
              <a:t>Lead Data &amp; Econometrics (40%)  •  Lead ML &amp; Tuning (40%)  •  Lead Business &amp; Strategy (20%)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Predictive Analytics  •  Cakrawala University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Part I: Context &amp; Data Pipeline (Tita Noviana — 40%)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1.  Industry Context &amp; Research Problem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2.  Data Sources, Volume &amp; Quality Audit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3.  Methodology: Walk-Forward Time-Series Validation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Part II: Empirical Modeling &amp; Tuning (Suci Fransisca Sisilia R — 40%)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4.  Candidate Models (AR(1), Ridge, Lasso, XGBoost vs. Naive)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5.  Master Cross-Model Comparison Table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6.  Hyperparameter Tuning: Default vs. Tuned Audit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7.  Model Interpretation: Why Capex Lags = 0.000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Part III: Regime Shifts &amp; Executive Strategy (Nadira Dika Kaivalya — 20%)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8.  Regime Shift Test: Pre-2023 vs. Post-2023 AI Boom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9.  Strategic Recommendations for C-Level Executives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10. 2030 Strategic Scenarios, Technical &amp; Business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Industry Context &amp; Research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6B"/>
                </a:solidFill>
              </a:defRPr>
            </a:pPr>
            <a:r>
              <a:t>The Capital Allocation Dilemma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 Amazon, Google, and Microsoft each spend $30B–$50B+ annually on AI datacenter infrastructure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 Implicit assumption: aggressive capex → faster cloud revenue growth after 1–4 quarter lag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•  CFOs need to know: Is this assumption empirically supported for short-term revenue guidance?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Three Testable Hypotheses: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H₁:  Capex growth (lag 1–4Q) predicts cloud revenue YoY growth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H₂:  ML models (Ridge, Lasso, XGBoost) beat a simple Naive baseline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   H₃:  The capex–cloud relationship shifted in the 2023+ Generative AI 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88720"/>
            <a:ext cx="3840480" cy="12801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6B"/>
                </a:solidFill>
              </a:defRPr>
            </a:pPr>
            <a:r>
              <a:t>Primary Stakeholder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Chief Financial Officer (CFO)</a:t>
            </a:r>
            <a:br/>
            <a:r>
              <a:t>&amp; Capital Allocation Committee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Data Sources, Volume &amp; Quality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 SEC EDGAR XBRL (companyfacts): Consolidated quarterly financials (Revenue, Capex, OCF, Debt)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 SEC Form 8-K Exhibit 99.1: 121 manually curated &amp; cross-verified cloud segment revenue records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 FRED (St. Louis Fed): Federal Funds Rate quarterly macro series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74320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Hyperscaler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Cloud Segment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Quarters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Amazon (AMZN)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2014-Q1 → 2026-Q2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Microsoft (MSFT)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Intelligent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2015-Q3 → 2026-Q2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Alphabet (GOOGL)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Google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F2937"/>
                          </a:solidFill>
                        </a:defRPr>
                      </a:pPr>
                      <a:r>
                        <a:t>2019-Q4 → 2026-Q2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TOTAL 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121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937"/>
                          </a:solidFill>
                        </a:defRPr>
                      </a:pPr>
                      <a:r>
                        <a:t>12+ years coverage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2743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B5E6B"/>
                </a:solidFill>
              </a:defRPr>
            </a:pPr>
            <a:r>
              <a:t>✓  Zero chronological gaps (all quarter steps &lt; 110 days)</a:t>
            </a:r>
          </a:p>
          <a:p>
            <a:pPr>
              <a:spcAft>
                <a:spcPts val="400"/>
              </a:spcAft>
              <a:defRPr sz="1100">
                <a:solidFill>
                  <a:srgbClr val="1B5E6B"/>
                </a:solidFill>
              </a:defRPr>
            </a:pPr>
            <a:r>
              <a:t>✓  6 live cross-checks against primary 8-K releases (100% exact match)</a:t>
            </a:r>
          </a:p>
          <a:p>
            <a:pPr>
              <a:spcAft>
                <a:spcPts val="400"/>
              </a:spcAft>
              <a:defRPr sz="1100">
                <a:solidFill>
                  <a:srgbClr val="1B5E6B"/>
                </a:solidFill>
              </a:defRPr>
            </a:pPr>
            <a:r>
              <a:t>✓  MSFT FY24 segment recast ($-17%) flagged as structural_break</a:t>
            </a:r>
          </a:p>
          <a:p>
            <a:pPr>
              <a:spcAft>
                <a:spcPts val="400"/>
              </a:spcAft>
              <a:defRPr sz="1100">
                <a:solidFill>
                  <a:srgbClr val="1B5E6B"/>
                </a:solidFill>
              </a:defRPr>
            </a:pPr>
            <a:r>
              <a:t>✓  All features lagged ≤ t-1 to prevent data leakage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Methodology: Walk-Forward Time-Series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Why NOT use standard K-Fold Cross-Validation?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→  K-Fold randomly shuffles observations, causing severe look-ahead data leakage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→  Future quarterly data would contaminate the training set — invalid for time-series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Our Approach: One-Step-Ahead Expanding-Window Walk-Forward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1.  Start with minimum 8-quarter burn-in training window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2.  At each step t, train ONLY on historical quarters [0, 1, ..., t-1]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3.  Predict the single out-of-sample quarter t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4.  Expand window to include t, repeat until end of series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5.  StandardScaler fitted exclusively on training partition (no test peeking)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Evaluation Metrics (Regression, NOT Classification):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•  RMSE (Root Mean Squared Error) — primary metric, penalizes large errors heavily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•  MAE (Mean Absolute Error) — interpretable in percentage-point units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•  Directional Accuracy — % of correct up/down direction calls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   •  F1-Score / Precision / Recall NOT applicable (continuous target, not binary labels)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Five Models Evaluated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566160" cy="210312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1B5E6B"/>
                </a:solidFill>
              </a:defRPr>
            </a:pPr>
            <a:r>
              <a:t>Model 1: Naive Baseline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ŷₜ = yₜ₋₁ (last quarter's growth)</a:t>
            </a:r>
          </a:p>
          <a:p>
            <a:pPr>
              <a:spcBef>
                <a:spcPts val="400"/>
              </a:spcBef>
              <a:defRPr sz="1000" b="1">
                <a:solidFill>
                  <a:srgbClr val="C5A55A"/>
                </a:solidFill>
              </a:defRPr>
            </a:pPr>
            <a:r>
              <a:t>Benchmark — must be beaten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566160" cy="210312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1B5E6B"/>
                </a:solidFill>
              </a:defRPr>
            </a:pPr>
            <a:r>
              <a:t>Model 2: AR(1) ARIMA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Autoregressive MLE fit on historical series</a:t>
            </a:r>
          </a:p>
          <a:p>
            <a:pPr>
              <a:spcBef>
                <a:spcPts val="400"/>
              </a:spcBef>
              <a:defRPr sz="1000" b="1">
                <a:solidFill>
                  <a:srgbClr val="C5A55A"/>
                </a:solidFill>
              </a:defRPr>
            </a:pPr>
            <a:r>
              <a:t>Classical econometric time-series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566160" cy="2103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1B5E6B"/>
                </a:solidFill>
              </a:defRPr>
            </a:pPr>
            <a:r>
              <a:t>Model 3: Ridge Regression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L2 regularization, handles capex lag collinearity</a:t>
            </a:r>
          </a:p>
          <a:p>
            <a:pPr>
              <a:spcBef>
                <a:spcPts val="400"/>
              </a:spcBef>
              <a:defRPr sz="1000" b="1">
                <a:solidFill>
                  <a:srgbClr val="C5A55A"/>
                </a:solidFill>
              </a:defRPr>
            </a:pPr>
            <a:r>
              <a:t>Default α=1.0 vs Tuned α∈[1e-4, 5.0]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3566160" cy="2103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1B5E6B"/>
                </a:solidFill>
              </a:defRPr>
            </a:pPr>
            <a:r>
              <a:t>Model 4: Lasso Regression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L1 regularization, automatic feature selection</a:t>
            </a:r>
          </a:p>
          <a:p>
            <a:pPr>
              <a:spcBef>
                <a:spcPts val="400"/>
              </a:spcBef>
              <a:defRPr sz="1000" b="1">
                <a:solidFill>
                  <a:srgbClr val="C5A55A"/>
                </a:solidFill>
              </a:defRPr>
            </a:pPr>
            <a:r>
              <a:t>Default α=1.0 vs Tuned α∈[1e-4, 5.0]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657600"/>
            <a:ext cx="3566160" cy="2103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400" b="1">
                <a:solidFill>
                  <a:srgbClr val="1B5E6B"/>
                </a:solidFill>
              </a:defRPr>
            </a:pPr>
            <a:r>
              <a:t>Model 5: XGBoost Regressor</a:t>
            </a:r>
          </a:p>
          <a:p>
            <a:pPr>
              <a:spcBef>
                <a:spcPts val="600"/>
              </a:spcBef>
              <a:defRPr sz="1100">
                <a:solidFill>
                  <a:srgbClr val="1F2937"/>
                </a:solidFill>
              </a:defRPr>
            </a:pPr>
            <a:r>
              <a:t>Gradient boosted trees, captures non-linear interactions</a:t>
            </a:r>
          </a:p>
          <a:p>
            <a:pPr>
              <a:spcBef>
                <a:spcPts val="400"/>
              </a:spcBef>
              <a:defRPr sz="1000" b="1">
                <a:solidFill>
                  <a:srgbClr val="C5A55A"/>
                </a:solidFill>
              </a:defRPr>
            </a:pPr>
            <a:r>
              <a:t>Default (depth=6) vs Tuned (depth=2-3)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Master Cross-Model Comparison (RMSE)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Walk-Forward Out-of-Sample Evaluation  •  MSFT structural break quarters excluded  •  Lower = Better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Ticker (N)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Naive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AR(1)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ARIMA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Ridge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(Tuned)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Lasso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(Tuned)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(Tuned)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AMZN (29)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0.1583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0.1089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🏆 Naive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GOOGL (14)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0.1303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🏆 Naive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MSFT (27)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🏆 Lasso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ALL (70)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0.1150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🏆 Naive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Key Finding: The Naive Persistence Baseline wins or ties across all hyperscalers</a:t>
            </a:r>
          </a:p>
          <a:p>
            <a:pPr>
              <a:spcBef>
                <a:spcPts val="600"/>
              </a:spcBef>
              <a:defRPr sz="1200">
                <a:solidFill>
                  <a:srgbClr val="1F2937"/>
                </a:solidFill>
              </a:defRPr>
            </a:pPr>
            <a:r>
              <a:t>• Adding 9 engineered capex/macro features to Ridge, Lasso, and XGBoost does NOT improve one-step-ahead forecasting</a:t>
            </a:r>
            <a:br/>
            <a:r>
              <a:t>• The only marginal ML win is Lasso (Tuned) for MSFT: RMSE 0.0523 vs 0.0550 Naive — a 5% improvement on just 27 quarters</a:t>
            </a:r>
            <a:br/>
            <a:r>
              <a:t>• Hypothesis H₂ (ML beats baseline) is NOT SUPPORTED by the empirical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Hyperparameter Tuning: Default vs. Tuned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Family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Search Space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Default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Tuned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AMZN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α ∈ [1e-4, 5.0]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AMZN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depth:[2,3], lr:[0.05,0.1]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0.1065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0.1089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α ∈ [1e-4, 5.0]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depth:[2,3], lr:[0.05,0.1]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0.1429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0.1303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✓ Improved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α ∈ [1e-4, 5.0]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✓ Improved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depth:[2,3], lr:[0.05,0.1]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</a:defRPr>
            </a:pPr>
            <a:r>
              <a:t>Insight: Tuning provides modest gains for GOOGL XGBoost (-8.8% RMSE) and MSFT Ridge (-7.5% RMSE).</a:t>
            </a:r>
            <a:br/>
            <a:r>
              <a:t>For AMZN, both Ridge and XGBoost show slight degradation after tuning — consistent with overfitting on small quarterly samples.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Regime Shift Test: Pre-2023 vs. Post-2023 AI Boom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Test: Train a Lasso model ONLY on pre-2023 data, then evaluate on post-2023 AI era quarters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Train Period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Period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Lasso RMSE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(Frozen Pre-2023)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Naive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AMZN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≤ 2022 (n=23)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2023+ (n=14)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0.1041  (3.0× worse)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0.0347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≤ 2022 (n=8)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2023+ (n=14)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0.2148  (2.6× worse)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0.0816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≤ 2022 (n=25)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2023+ (n=14)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0.1423  (1.9× worse)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</a:defRPr>
                      </a:pPr>
                      <a:r>
                        <a:t>0.0740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 H₃ (Regime Shift) is PARTIALLY CONFIRMED: pre-2023 models collapse 2–3× on post-2023 data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 BUT this is NOT because capex became a stronger predictor — Lasso capex coefficients DROP to exactly 0.000 in BOTH eras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 The shift is driven by volatility and level changes in cloud growth itself (AI infrastructure boom effects)</a:t>
            </a:r>
          </a:p>
          <a:p>
            <a:pPr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•  The autoregressive term (last quarter's growth) remains the only meaningful predictor in both regimes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Model Interpretation: The Zero-Capex Phenomenon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Pre-2023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Post-2023</a:t>
                      </a:r>
                    </a:p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capex_yoy_lag1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capex_yoy_lag2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capex_yoy_lag3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-0.000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capex_yoy_lag4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fed_funds_chg_yoy_lag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-0.008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-0.021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capex_to_rev_lag1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-0.019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fcf_margin_lag1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-0.014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debt_yoy_lag1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0.037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cloud_yoy_lag1 (AR term)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0.124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0.096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All 4 capex growth lags are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regularized to exactly 0.000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by Lasso in BOTH eras.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The only dominant predictor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is the autoregressive term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(last quarter's cloud growth).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This does NOT mean capex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doesn't create revenue —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it means the conversion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horizon is multi-year, not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1–4 quarters, and recent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capex is absorbed by internal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AI R&amp;D (Gemini, Copilot, Llama),</a:t>
            </a:r>
          </a:p>
          <a:p>
            <a:pPr>
              <a:spcAft>
                <a:spcPts val="400"/>
              </a:spcAft>
              <a:defRPr sz="1200">
                <a:solidFill>
                  <a:srgbClr val="1B5E6B"/>
                </a:solidFill>
              </a:defRPr>
            </a:pPr>
            <a:r>
              <a:t>not immediate customer billing.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6B"/>
                </a:solidFill>
              </a:defRPr>
            </a:pPr>
            <a:r>
              <a:t>Strategic Recommendations for C-Level Executives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 b="1">
                <a:solidFill>
                  <a:srgbClr val="C5A55A"/>
                </a:solidFill>
              </a:defRPr>
            </a:pPr>
            <a:r>
              <a:t>Recommendation 1</a:t>
            </a:r>
          </a:p>
          <a:p>
            <a:pPr>
              <a:spcBef>
                <a:spcPts val="400"/>
              </a:spcBef>
              <a:defRPr sz="1600" b="1">
                <a:solidFill>
                  <a:srgbClr val="1B5E6B"/>
                </a:solidFill>
              </a:defRPr>
            </a:pPr>
            <a:r>
              <a:t>Decouple Cloud Revenue Guidance</a:t>
            </a:r>
            <a:br/>
            <a:r>
              <a:t>from Capex Announcements</a:t>
            </a:r>
          </a:p>
          <a:p>
            <a:pPr>
              <a:spcBef>
                <a:spcPts val="800"/>
              </a:spcBef>
              <a:defRPr sz="1100">
                <a:solidFill>
                  <a:srgbClr val="1F2937"/>
                </a:solidFill>
              </a:defRPr>
            </a:pPr>
            <a:r>
              <a:t>• Stop using quarterly capex figures as a proxy for</a:t>
            </a:r>
            <a:br/>
            <a:r>
              <a:t>  1–4 quarter cloud revenue acceleration</a:t>
            </a:r>
            <a:br/>
            <a:r>
              <a:t>• Base guidance on Remaining Performance</a:t>
            </a:r>
            <a:br/>
            <a:r>
              <a:t>  Obligations (RPO) and organic momentum instead</a:t>
            </a:r>
            <a:br/>
            <a:r>
              <a:t>• Eliminates multi-billion-dollar forecast overshoots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2468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 b="1">
                <a:solidFill>
                  <a:srgbClr val="C5A55A"/>
                </a:solidFill>
              </a:defRPr>
            </a:pPr>
            <a:r>
              <a:t>Recommendation 2</a:t>
            </a:r>
          </a:p>
          <a:p>
            <a:pPr>
              <a:spcBef>
                <a:spcPts val="400"/>
              </a:spcBef>
              <a:defRPr sz="1600" b="1">
                <a:solidFill>
                  <a:srgbClr val="1B5E6B"/>
                </a:solidFill>
              </a:defRPr>
            </a:pPr>
            <a:r>
              <a:t>Implement Adaptive Scenario-Based</a:t>
            </a:r>
            <a:br/>
            <a:r>
              <a:t>Capacity Planning</a:t>
            </a:r>
          </a:p>
          <a:p>
            <a:pPr>
              <a:spcBef>
                <a:spcPts val="800"/>
              </a:spcBef>
              <a:defRPr sz="1100">
                <a:solidFill>
                  <a:srgbClr val="1F2937"/>
                </a:solidFill>
              </a:defRPr>
            </a:pPr>
            <a:r>
              <a:t>• Post-2023 shows increased sensitivity to interest</a:t>
            </a:r>
            <a:br/>
            <a:r>
              <a:t>  rate changes and debt leverage conditions</a:t>
            </a:r>
            <a:br/>
            <a:r>
              <a:t>• Stage GPU capacity in modular tranches with</a:t>
            </a:r>
            <a:br/>
            <a:r>
              <a:t>  flexible lease options for macro downside scenarios</a:t>
            </a:r>
            <a:br/>
            <a:r>
              <a:t>• Monitor ROIC at datacenter cluster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6B"/>
                </a:solidFill>
              </a:defRPr>
            </a:pPr>
            <a:r>
              <a:t>Three Core Evidence-Based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Finding 1 (H₁ Rejected):  Capex growth lags 1–4Q have zero predictive power — Lasso eliminates all coefficients to 0.000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Finding 2 (H₂ Rejected):  Naive Persistence Baseline wins or ties vs. all ML models for AMZN and GOOGL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Finding 3 (H₃ Partial):   Pre-2023 models collapse 2–3× on post-2023 data, but capex is NOT the driver of the regime shift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6B"/>
                </a:solidFill>
              </a:defRPr>
            </a:pPr>
            <a:r>
              <a:t>2030 Strategic Scenarios &amp; Project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54864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6B"/>
                </a:solidFill>
              </a:defRPr>
            </a:pPr>
            <a:r>
              <a:t>Strategic 2030 Capacity Scenarios (Heuristic Bounds, NOT an ML Forecast)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43000"/>
          <a:ext cx="6217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2072640"/>
                <a:gridCol w="20726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Growth Assumption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Structural Driver / Risk Profile</a:t>
                      </a:r>
                    </a:p>
                  </a:txBody>
                  <a:tcPr>
                    <a:solidFill>
                      <a:srgbClr val="1B5E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Bear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5% YoY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GPU commoditization, enterprise AI monetization plateau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15% YoY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Steady cloud migration + moderate GenAI workload capture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Bull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30% YoY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937"/>
                          </a:solidFill>
                        </a:defRPr>
                      </a:pPr>
                      <a:r>
                        <a:t>Transformative enterprise agentic AI + sovereign cloud demand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960120"/>
            <a:ext cx="4709160" cy="14630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100" b="1">
                <a:solidFill>
                  <a:srgbClr val="1B5E6B"/>
                </a:solidFill>
              </a:defRPr>
            </a:pPr>
            <a:r>
              <a:t>Why Can't the Model Predict to 2030?</a:t>
            </a:r>
          </a:p>
          <a:p>
            <a:pPr>
              <a:spcBef>
                <a:spcPts val="200"/>
              </a:spcBef>
              <a:defRPr sz="950">
                <a:solidFill>
                  <a:srgbClr val="1F2937"/>
                </a:solidFill>
              </a:defRPr>
            </a:pPr>
            <a:r>
              <a:t>•  1-Quarter Horizon Limit (h=1): Models were strictly validated for 1Q-ahead. Iterative 16-20Q projections suffer fatal recursive error compounding.</a:t>
            </a:r>
          </a:p>
          <a:p>
            <a:pPr>
              <a:spcBef>
                <a:spcPts val="200"/>
              </a:spcBef>
              <a:defRPr sz="950">
                <a:solidFill>
                  <a:srgbClr val="1F2937"/>
                </a:solidFill>
              </a:defRPr>
            </a:pPr>
            <a:r>
              <a:t>•  Zero Capex Predictive Signal: Regularization shrinks all capex lags to 0.000 — no empirical basis exists for multi-year ML extrapolation.</a:t>
            </a:r>
          </a:p>
          <a:p>
            <a:pPr>
              <a:spcBef>
                <a:spcPts val="200"/>
              </a:spcBef>
              <a:defRPr sz="950">
                <a:solidFill>
                  <a:srgbClr val="1F2937"/>
                </a:solidFill>
              </a:defRPr>
            </a:pPr>
            <a:r>
              <a:t>•  Role of 2030 Numbers: Heuristic compounding stress-test for capacity downside planning, explicitly NOT a statistical model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440680" cy="2697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B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200" b="1">
                <a:solidFill>
                  <a:srgbClr val="1B5E6B"/>
                </a:solidFill>
              </a:defRPr>
            </a:pPr>
            <a:r>
              <a:t>Technical &amp; Methodological Limitations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Short Forecast Horizon (h=1Q): Validated solely for 1-step ahead; cannot project long-term horizons (2030) without exponential error drift.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Small Sample Size (N=98 clean): Quarterly panel (GOOGL n=22, MSFT n=40, AMZN n=46) limits complex non-linear training; XGBoost overfits validation.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Aggregated Capex Data: SEC 10-K/Q filings combine AI datacenter chips with real estate, office hardware, and retail logistics (no pure AI capex).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Accounting Recasts: MSFT FY24/25 segment restatement creates structural breaks requiring manual same-vintage reconciliation.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Target Metric Definition: Target is growth change (Delta YoY, can be &lt;= 0), making MAPE mathematically undefined; evaluation relies strictly on RMSE.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440680" cy="26974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C5A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200" b="1">
                <a:solidFill>
                  <a:srgbClr val="1B5E6B"/>
                </a:solidFill>
              </a:defRPr>
            </a:pPr>
            <a:r>
              <a:t>Business &amp; Decision-Making Limitations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No Short-Term Guidance Signal: Capex guidance announcements cannot serve as an early indicator to revise 1Q-ahead cloud revenue forecasts.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Multi-Year Gestation Lag: Datacenter construction, utility power permits, and cluster setups take 2–4+ years before generating billable customer revenue.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Internal R&amp;D Absorption: Significant AI capex feeds proprietary foundation models (Gemini, Copilot, Llama), not third-party cloud segment billing.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Non-Causal Relationship: Findings show predictive independence, not causal absence; macroeconomic IT budgets and interest rates dominate.</a:t>
            </a:r>
          </a:p>
          <a:p>
            <a:pPr>
              <a:spcBef>
                <a:spcPts val="300"/>
              </a:spcBef>
              <a:defRPr sz="950">
                <a:solidFill>
                  <a:srgbClr val="1F2937"/>
                </a:solidFill>
              </a:defRPr>
            </a:pPr>
            <a:r>
              <a:t>•  Unfit for 2030 Capital Commitments: Model cannot justify $50B+ multi-year capex outlays; requires modular tranche-based leasing and RPO monitoring.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394960"/>
            <a:ext cx="12191695" cy="1143000"/>
          </a:xfrm>
          <a:prstGeom prst="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Thank You — 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3387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C5A55A"/>
                </a:solidFill>
              </a:defRPr>
            </a:pPr>
            <a:r>
              <a:t>Recommended Next Steps: Datacenter power filings • Cluster-level GPU utilization tracking • 4–8Q multi-year lag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08192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E5E7EB"/>
                </a:solidFill>
              </a:defRPr>
            </a:pPr>
            <a:r>
              <a:t>Cakrawala University • Predictive Analytics (Meeting 14 &amp; Technical Interview) • Tita Noviana (40%) • Suci Fransisca Sisilia R (40%) • Nadira Dika Kaivalya 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