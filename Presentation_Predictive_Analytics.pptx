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-245" y="-3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Predictive Analytics Group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5A55A"/>
                </a:solidFill>
              </a:defRPr>
            </a:pPr>
            <a:r>
              <a:t>Does Hyperscaler Capex Growth Predict</a:t>
            </a:r>
            <a:br/>
            <a:r>
              <a:t>Cloud Segment Revenue Growth?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7EB"/>
                </a:solidFill>
              </a:defRPr>
            </a:pPr>
            <a:r>
              <a:t>An Empirical Time-Series &amp; Econometric Analysis of Amazon AWS, Google Cloud, and Microsoft Azure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B5E6B"/>
                </a:solidFill>
              </a:defRPr>
            </a:pPr>
            <a:r>
              <a:t>Tita Noviana (40% • 24120500011)   |   Suci Fransisca Sisilia R (40% • 24120500008)   |   Nadira Dika Kaivalya (20% • 24110500023)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rPr dirty="0"/>
              <a:t>Predictive Analytics  •  </a:t>
            </a:r>
            <a:r>
              <a:rPr dirty="0" err="1"/>
              <a:t>Cakrawala</a:t>
            </a:r>
            <a:r>
              <a:rPr dirty="0"/>
              <a:t> University  •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Presentation 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10058400" cy="381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rPr dirty="0"/>
              <a:t>Part I: Context &amp; Data Pipeline </a:t>
            </a:r>
            <a:endParaRPr lang="en-US" dirty="0" smtClean="0"/>
          </a:p>
          <a:p>
            <a:pPr marL="342900" indent="-342900">
              <a:spcAft>
                <a:spcPts val="400"/>
              </a:spcAft>
              <a:buFont typeface="+mj-lt"/>
              <a:buAutoNum type="arabicPeriod"/>
              <a:defRPr sz="1300">
                <a:solidFill>
                  <a:srgbClr val="1F2937"/>
                </a:solidFill>
              </a:defRPr>
            </a:pPr>
            <a:r>
              <a:rPr dirty="0" smtClean="0"/>
              <a:t>Industry </a:t>
            </a:r>
            <a:r>
              <a:rPr dirty="0"/>
              <a:t>Context &amp; Research Problem</a:t>
            </a:r>
          </a:p>
          <a:p>
            <a:pPr marL="342900" indent="-342900">
              <a:spcAft>
                <a:spcPts val="400"/>
              </a:spcAft>
              <a:buFont typeface="+mj-lt"/>
              <a:buAutoNum type="arabicPeriod"/>
              <a:defRPr sz="1300">
                <a:solidFill>
                  <a:srgbClr val="1F2937"/>
                </a:solidFill>
              </a:defRPr>
            </a:pPr>
            <a:r>
              <a:rPr dirty="0" smtClean="0"/>
              <a:t>Data </a:t>
            </a:r>
            <a:r>
              <a:rPr dirty="0"/>
              <a:t>Sources, Volume &amp; Quality Audit</a:t>
            </a:r>
          </a:p>
          <a:p>
            <a:pPr marL="342900" indent="-342900">
              <a:spcAft>
                <a:spcPts val="400"/>
              </a:spcAft>
              <a:buFont typeface="+mj-lt"/>
              <a:buAutoNum type="arabicPeriod"/>
              <a:defRPr sz="1300">
                <a:solidFill>
                  <a:srgbClr val="1F2937"/>
                </a:solidFill>
              </a:defRPr>
            </a:pPr>
            <a:r>
              <a:rPr dirty="0" smtClean="0"/>
              <a:t>Methodology</a:t>
            </a:r>
            <a:r>
              <a:rPr dirty="0"/>
              <a:t>: Walk-Forward Time-Series Validation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rPr dirty="0"/>
              <a:t>Part II: Empirical Modeling &amp; </a:t>
            </a:r>
            <a:r>
              <a:rPr dirty="0" smtClean="0"/>
              <a:t>Tuning</a:t>
            </a:r>
            <a:endParaRPr dirty="0"/>
          </a:p>
          <a:p>
            <a:pPr marL="342900" indent="-342900">
              <a:spcAft>
                <a:spcPts val="400"/>
              </a:spcAft>
              <a:buFont typeface="+mj-lt"/>
              <a:buAutoNum type="arabicPeriod" startAt="4"/>
              <a:defRPr sz="1300">
                <a:solidFill>
                  <a:srgbClr val="1F2937"/>
                </a:solidFill>
              </a:defRPr>
            </a:pPr>
            <a:r>
              <a:rPr dirty="0" smtClean="0"/>
              <a:t>Candidate </a:t>
            </a:r>
            <a:r>
              <a:rPr dirty="0"/>
              <a:t>Models (AR(1), Ridge, Lasso, </a:t>
            </a:r>
            <a:r>
              <a:rPr dirty="0" err="1"/>
              <a:t>XGBoost</a:t>
            </a:r>
            <a:r>
              <a:rPr dirty="0"/>
              <a:t> vs. Naive)</a:t>
            </a:r>
          </a:p>
          <a:p>
            <a:pPr marL="342900" indent="-342900">
              <a:spcAft>
                <a:spcPts val="400"/>
              </a:spcAft>
              <a:buFont typeface="+mj-lt"/>
              <a:buAutoNum type="arabicPeriod" startAt="4"/>
              <a:defRPr sz="1300">
                <a:solidFill>
                  <a:srgbClr val="1F2937"/>
                </a:solidFill>
              </a:defRPr>
            </a:pPr>
            <a:r>
              <a:rPr dirty="0" smtClean="0"/>
              <a:t>Master </a:t>
            </a:r>
            <a:r>
              <a:rPr dirty="0"/>
              <a:t>Cross-Model Comparison Table</a:t>
            </a:r>
          </a:p>
          <a:p>
            <a:pPr marL="342900" indent="-342900">
              <a:spcAft>
                <a:spcPts val="400"/>
              </a:spcAft>
              <a:buFont typeface="+mj-lt"/>
              <a:buAutoNum type="arabicPeriod" startAt="4"/>
              <a:defRPr sz="1300">
                <a:solidFill>
                  <a:srgbClr val="1F2937"/>
                </a:solidFill>
              </a:defRPr>
            </a:pPr>
            <a:r>
              <a:rPr dirty="0" err="1" smtClean="0"/>
              <a:t>Hyperparameter</a:t>
            </a:r>
            <a:r>
              <a:rPr dirty="0" smtClean="0"/>
              <a:t> </a:t>
            </a:r>
            <a:r>
              <a:rPr dirty="0"/>
              <a:t>Tuning: Default vs. Tuned </a:t>
            </a:r>
            <a:r>
              <a:rPr dirty="0" smtClean="0"/>
              <a:t>Audit</a:t>
            </a:r>
            <a:endParaRPr lang="en-US" dirty="0" smtClean="0"/>
          </a:p>
          <a:p>
            <a:pPr marL="342900" indent="-342900">
              <a:spcAft>
                <a:spcPts val="400"/>
              </a:spcAft>
              <a:buFont typeface="+mj-lt"/>
              <a:buAutoNum type="arabicPeriod" startAt="4"/>
              <a:defRPr sz="1300">
                <a:solidFill>
                  <a:srgbClr val="1F2937"/>
                </a:solidFill>
              </a:defRPr>
            </a:pPr>
            <a:r>
              <a:rPr dirty="0" smtClean="0"/>
              <a:t>Model </a:t>
            </a:r>
            <a:r>
              <a:rPr dirty="0"/>
              <a:t>Interpretation: Why Capex Lags = 0.000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rPr dirty="0"/>
              <a:t>Part III: Regime Shifts &amp; Executive </a:t>
            </a:r>
            <a:r>
              <a:rPr dirty="0" smtClean="0"/>
              <a:t>Strategy</a:t>
            </a:r>
            <a:endParaRPr lang="en-US" dirty="0" smtClean="0"/>
          </a:p>
          <a:p>
            <a:pPr marL="342900" indent="-342900">
              <a:spcAft>
                <a:spcPts val="400"/>
              </a:spcAft>
              <a:buFont typeface="+mj-lt"/>
              <a:buAutoNum type="arabicPeriod" startAt="8"/>
              <a:defRPr sz="1300">
                <a:solidFill>
                  <a:srgbClr val="1F2937"/>
                </a:solidFill>
              </a:defRPr>
            </a:pPr>
            <a:r>
              <a:rPr dirty="0" smtClean="0"/>
              <a:t>Regime </a:t>
            </a:r>
            <a:r>
              <a:rPr dirty="0"/>
              <a:t>Shift Test: Pre-2023 vs. Post-2023 AI Boom</a:t>
            </a:r>
          </a:p>
          <a:p>
            <a:pPr marL="342900" indent="-342900">
              <a:spcAft>
                <a:spcPts val="400"/>
              </a:spcAft>
              <a:buFont typeface="+mj-lt"/>
              <a:buAutoNum type="arabicPeriod" startAt="8"/>
              <a:defRPr sz="1300">
                <a:solidFill>
                  <a:srgbClr val="1F2937"/>
                </a:solidFill>
              </a:defRPr>
            </a:pPr>
            <a:r>
              <a:rPr dirty="0" smtClean="0"/>
              <a:t>Strategic </a:t>
            </a:r>
            <a:r>
              <a:rPr dirty="0"/>
              <a:t>Recommendations for C-Level Executives</a:t>
            </a:r>
          </a:p>
          <a:p>
            <a:pPr marL="342900" indent="-342900">
              <a:spcAft>
                <a:spcPts val="400"/>
              </a:spcAft>
              <a:buFont typeface="+mj-lt"/>
              <a:buAutoNum type="arabicPeriod" startAt="8"/>
              <a:defRPr sz="1300">
                <a:solidFill>
                  <a:srgbClr val="1F2937"/>
                </a:solidFill>
              </a:defRPr>
            </a:pPr>
            <a:r>
              <a:rPr dirty="0" smtClean="0"/>
              <a:t>2030 </a:t>
            </a:r>
            <a:r>
              <a:rPr dirty="0"/>
              <a:t>Scenarios, Limitations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Industry Context &amp; Research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5E6B"/>
                </a:solidFill>
              </a:defRPr>
            </a:pPr>
            <a:r>
              <a:t>The Capital Allocation Dilemma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rPr dirty="0"/>
              <a:t>•  Amazon, Google, and Microsoft each spend $30B–$50B+ annually on AI datacenter infrastructure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rPr dirty="0"/>
              <a:t>•  Implicit assumption: aggressive capex → faster cloud revenue growth after 1–4 quarter lag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rPr dirty="0"/>
              <a:t>•  CFOs need to know: Is this assumption empirically supported for short-term revenue guidance?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rPr dirty="0"/>
              <a:t>Three Testable Hypotheses: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rPr dirty="0"/>
              <a:t>   H₁:  Capex growth (lag 1–4Q) predicts cloud revenue YoY growth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rPr dirty="0"/>
              <a:t>   H₂:  ML models (Ridge, Lasso, </a:t>
            </a:r>
            <a:r>
              <a:rPr dirty="0" err="1"/>
              <a:t>XGBoost</a:t>
            </a:r>
            <a:r>
              <a:rPr dirty="0"/>
              <a:t>) beat a simple Naive baseline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rPr dirty="0"/>
              <a:t>   H₃:  The capex–cloud relationship shifted in the 2023+ Generative AI 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529840"/>
            <a:ext cx="3840480" cy="12801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B5E6B"/>
                </a:solidFill>
              </a:defRPr>
            </a:pPr>
            <a:r>
              <a:rPr dirty="0"/>
              <a:t>Primary Stakeholder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rPr dirty="0"/>
              <a:t>Chief Financial Officer (CFO</a:t>
            </a:r>
            <a:r>
              <a:rPr dirty="0" smtClean="0"/>
              <a:t>)</a:t>
            </a:r>
            <a:r>
              <a:rPr lang="en-US" dirty="0" smtClean="0"/>
              <a:t> </a:t>
            </a:r>
            <a:r>
              <a:rPr dirty="0" smtClean="0"/>
              <a:t>&amp; </a:t>
            </a:r>
            <a:r>
              <a:rPr dirty="0"/>
              <a:t>Capital Allocation Committee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Data Sources, Volume &amp; Quality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•  SEC EDGAR XBRL (companyfacts): Consolidated quarterly financials (Revenue, Capex, OCF, Debt)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•  SEC Form 8-K Exhibit 99.1: 121 manually curated &amp; cross-verified cloud segment revenue records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•  FRED (St. Louis Fed): Federal Funds Rate quarterly macro series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743200"/>
          <a:ext cx="6858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Hyperscaler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Cloud Segment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Quarters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Amazon (AMZN)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AWS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2014-Q1 → 2026-Q2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Microsoft (MSFT)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Intelligent 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2015-Q3 → 2026-Q2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Alphabet (GOOGL)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Google 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</a:defRPr>
                      </a:pPr>
                      <a:r>
                        <a:t>2019-Q4 → 2026-Q2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937"/>
                          </a:solidFill>
                        </a:defRPr>
                      </a:pPr>
                      <a:r>
                        <a:t>TOTAL 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937"/>
                          </a:solidFill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937"/>
                          </a:solidFill>
                        </a:defRPr>
                      </a:pPr>
                      <a:r>
                        <a:t>121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937"/>
                          </a:solidFill>
                        </a:defRPr>
                      </a:pPr>
                      <a:r>
                        <a:t>12+ years coverage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46720" y="27432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B5E6B"/>
                </a:solidFill>
              </a:defRPr>
            </a:pPr>
            <a:r>
              <a:t>✓  Zero chronological gaps (all quarter steps &lt; 110 days)</a:t>
            </a:r>
          </a:p>
          <a:p>
            <a:pPr>
              <a:spcAft>
                <a:spcPts val="400"/>
              </a:spcAft>
              <a:defRPr sz="1100">
                <a:solidFill>
                  <a:srgbClr val="1B5E6B"/>
                </a:solidFill>
              </a:defRPr>
            </a:pPr>
            <a:r>
              <a:t>✓  6 live cross-checks against primary 8-K releases (100% exact match)</a:t>
            </a:r>
          </a:p>
          <a:p>
            <a:pPr>
              <a:spcAft>
                <a:spcPts val="400"/>
              </a:spcAft>
              <a:defRPr sz="1100">
                <a:solidFill>
                  <a:srgbClr val="1B5E6B"/>
                </a:solidFill>
              </a:defRPr>
            </a:pPr>
            <a:r>
              <a:t>✓  MSFT FY24 segment recast ($-17%) flagged as structural_break</a:t>
            </a:r>
          </a:p>
          <a:p>
            <a:pPr>
              <a:spcAft>
                <a:spcPts val="400"/>
              </a:spcAft>
              <a:defRPr sz="1100">
                <a:solidFill>
                  <a:srgbClr val="1B5E6B"/>
                </a:solidFill>
              </a:defRPr>
            </a:pPr>
            <a:r>
              <a:t>✓  All features lagged ≤ t-1 to prevent data leakage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Methodology: Walk-Forward Time-Series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Why NOT use standard K-Fold Cross-Validation?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→  K-Fold randomly shuffles observations, causing severe look-ahead data leakage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→  Future quarterly data would contaminate the training set — invalid for time-series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Our Approach: One-Step-Ahead Expanding-Window Walk-Forward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1.  Start with minimum 8-quarter burn-in training window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2.  At each step t, train ONLY on historical quarters [0, 1, ..., t-1]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3.  Predict the single out-of-sample quarter t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4.  Expand window to include t, repeat until end of series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5.  StandardScaler fitted exclusively on training partition (no test peeking)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Evaluation Metrics (Regression, NOT Classification):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•  RMSE (Root Mean Squared Error) — primary metric, penalizes large errors heavily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•  MAE (Mean Absolute Error) — interpretable in percentage-point units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•  Directional Accuracy — % of correct up/down direction calls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   •  F1-Score / Precision / Recall NOT applicable (continuous target, not binary labels)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Five Models Evaluated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566160" cy="2103120"/>
          </a:xfrm>
          <a:prstGeom prst="roundRect">
            <a:avLst/>
          </a:prstGeom>
          <a:solidFill>
            <a:srgbClr val="E5E7EB"/>
          </a:solidFill>
          <a:ln w="1270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400" b="1">
                <a:solidFill>
                  <a:srgbClr val="1B5E6B"/>
                </a:solidFill>
              </a:defRPr>
            </a:pPr>
            <a:r>
              <a:t>Model 1: Naive Baseline</a:t>
            </a:r>
          </a:p>
          <a:p>
            <a:pPr>
              <a:spcBef>
                <a:spcPts val="600"/>
              </a:spcBef>
              <a:defRPr sz="1100">
                <a:solidFill>
                  <a:srgbClr val="1F2937"/>
                </a:solidFill>
              </a:defRPr>
            </a:pPr>
            <a:r>
              <a:t>ŷₜ = yₜ₋₁ (last quarter's growth)</a:t>
            </a:r>
          </a:p>
          <a:p>
            <a:pPr>
              <a:spcBef>
                <a:spcPts val="400"/>
              </a:spcBef>
              <a:defRPr sz="1000" b="1">
                <a:solidFill>
                  <a:srgbClr val="C5A55A"/>
                </a:solidFill>
              </a:defRPr>
            </a:pPr>
            <a:r>
              <a:t>Benchmark — must be beaten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188720"/>
            <a:ext cx="3566160" cy="2103120"/>
          </a:xfrm>
          <a:prstGeom prst="roundRect">
            <a:avLst/>
          </a:prstGeom>
          <a:solidFill>
            <a:srgbClr val="E5E7EB"/>
          </a:solidFill>
          <a:ln w="1270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400" b="1">
                <a:solidFill>
                  <a:srgbClr val="1B5E6B"/>
                </a:solidFill>
              </a:defRPr>
            </a:pPr>
            <a:r>
              <a:t>Model 2: AR(1) ARIMA</a:t>
            </a:r>
          </a:p>
          <a:p>
            <a:pPr>
              <a:spcBef>
                <a:spcPts val="600"/>
              </a:spcBef>
              <a:defRPr sz="1100">
                <a:solidFill>
                  <a:srgbClr val="1F2937"/>
                </a:solidFill>
              </a:defRPr>
            </a:pPr>
            <a:r>
              <a:t>Autoregressive MLE fit on historical series</a:t>
            </a:r>
          </a:p>
          <a:p>
            <a:pPr>
              <a:spcBef>
                <a:spcPts val="400"/>
              </a:spcBef>
              <a:defRPr sz="1000" b="1">
                <a:solidFill>
                  <a:srgbClr val="C5A55A"/>
                </a:solidFill>
              </a:defRPr>
            </a:pPr>
            <a:r>
              <a:t>Classical econometric time-series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188720"/>
            <a:ext cx="3566160" cy="21031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400" b="1">
                <a:solidFill>
                  <a:srgbClr val="1B5E6B"/>
                </a:solidFill>
              </a:defRPr>
            </a:pPr>
            <a:r>
              <a:t>Model 3: Ridge Regression</a:t>
            </a:r>
          </a:p>
          <a:p>
            <a:pPr>
              <a:spcBef>
                <a:spcPts val="600"/>
              </a:spcBef>
              <a:defRPr sz="1100">
                <a:solidFill>
                  <a:srgbClr val="1F2937"/>
                </a:solidFill>
              </a:defRPr>
            </a:pPr>
            <a:r>
              <a:t>L2 regularization, handles capex lag collinearity</a:t>
            </a:r>
          </a:p>
          <a:p>
            <a:pPr>
              <a:spcBef>
                <a:spcPts val="400"/>
              </a:spcBef>
              <a:defRPr sz="1000" b="1">
                <a:solidFill>
                  <a:srgbClr val="C5A55A"/>
                </a:solidFill>
              </a:defRPr>
            </a:pPr>
            <a:r>
              <a:t>Default α=1.0 vs Tuned α∈[1e-4, 5.0]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57600"/>
            <a:ext cx="3566160" cy="21031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400" b="1">
                <a:solidFill>
                  <a:srgbClr val="1B5E6B"/>
                </a:solidFill>
              </a:defRPr>
            </a:pPr>
            <a:r>
              <a:t>Model 4: Lasso Regression</a:t>
            </a:r>
          </a:p>
          <a:p>
            <a:pPr>
              <a:spcBef>
                <a:spcPts val="600"/>
              </a:spcBef>
              <a:defRPr sz="1100">
                <a:solidFill>
                  <a:srgbClr val="1F2937"/>
                </a:solidFill>
              </a:defRPr>
            </a:pPr>
            <a:r>
              <a:t>L1 regularization, automatic feature selection</a:t>
            </a:r>
          </a:p>
          <a:p>
            <a:pPr>
              <a:spcBef>
                <a:spcPts val="400"/>
              </a:spcBef>
              <a:defRPr sz="1000" b="1">
                <a:solidFill>
                  <a:srgbClr val="C5A55A"/>
                </a:solidFill>
              </a:defRPr>
            </a:pPr>
            <a:r>
              <a:t>Default α=1.0 vs Tuned α∈[1e-4, 5.0]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657600"/>
            <a:ext cx="3566160" cy="21031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400" b="1">
                <a:solidFill>
                  <a:srgbClr val="1B5E6B"/>
                </a:solidFill>
              </a:defRPr>
            </a:pPr>
            <a:r>
              <a:t>Model 5: XGBoost Regressor</a:t>
            </a:r>
          </a:p>
          <a:p>
            <a:pPr>
              <a:spcBef>
                <a:spcPts val="600"/>
              </a:spcBef>
              <a:defRPr sz="1100">
                <a:solidFill>
                  <a:srgbClr val="1F2937"/>
                </a:solidFill>
              </a:defRPr>
            </a:pPr>
            <a:r>
              <a:t>Gradient boosted trees, captures non-linear interactions</a:t>
            </a:r>
          </a:p>
          <a:p>
            <a:pPr>
              <a:spcBef>
                <a:spcPts val="400"/>
              </a:spcBef>
              <a:defRPr sz="1000" b="1">
                <a:solidFill>
                  <a:srgbClr val="C5A55A"/>
                </a:solidFill>
              </a:defRPr>
            </a:pPr>
            <a:r>
              <a:t>Default (depth=6) vs Tuned (depth=2-3)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Master Cross-Model Comparison (RMSE)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Walk-Forward Out-of-Sample Evaluation  •  MSFT structural break quarters excluded  •  Lower = Better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67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67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 (N)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Naive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AR(1)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ARIMA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Ridge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(Tuned)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Lasso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(Tuned)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XGBoost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(Tuned)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AMZN (29)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0.1583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0.1089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🏆 Naive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GOOGL (14)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0.0816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0.1303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🏆 Naive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MSFT (27)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0.0614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0.0523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🏆 Lasso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ALL (70)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0.0835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0.1150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🏆 Naive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114800"/>
            <a:ext cx="11247120" cy="20116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Key Finding: The Naive Persistence Baseline wins or ties across all hyperscalers</a:t>
            </a:r>
          </a:p>
          <a:p>
            <a:pPr>
              <a:spcBef>
                <a:spcPts val="600"/>
              </a:spcBef>
              <a:defRPr sz="1200">
                <a:solidFill>
                  <a:srgbClr val="1F2937"/>
                </a:solidFill>
              </a:defRPr>
            </a:pPr>
            <a:r>
              <a:t>• Adding 9 engineered capex/macro features to Ridge, Lasso, and XGBoost does NOT improve one-step-ahead forecasting</a:t>
            </a:r>
            <a:br/>
            <a:r>
              <a:t>• The only marginal ML win is Lasso (Tuned) for MSFT: RMSE 0.0523 vs 0.0550 Naive — a 5% improvement on just 27 quarters</a:t>
            </a:r>
            <a:br/>
            <a:r>
              <a:t>• Hypothesis H₂ (ML beats baseline) is NOT SUPPORTED by the empirical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Hyperparameter Tuning: Default vs. Tuned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8872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Family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Search Space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Default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Tuned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Outcome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AMZN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α ∈ [1e-4, 5.0]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Trade-off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AMZN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depth:[2,3], lr:[0.05,0.1]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0.1065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0.1089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Trade-off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GOOGL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α ∈ [1e-4, 5.0]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Trade-off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GOOGL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depth:[2,3], lr:[0.05,0.1]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0.1303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✓ Improved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MSFT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α ∈ [1e-4, 5.0]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0.0663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0.0614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✓ Improved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MSFT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depth:[2,3], lr:[0.05,0.1]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Trade-off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5720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</a:defRPr>
            </a:pPr>
            <a:r>
              <a:t>Insight: Tuning provides modest gains for GOOGL XGBoost (-8.8% RMSE) and MSFT Ridge (-7.5% RMSE).</a:t>
            </a:r>
            <a:br/>
            <a:r>
              <a:t>For AMZN, both Ridge and XGBoost show slight degradation after tuning — consistent with overfitting on small quarterly samples.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Regime Shift Test: Pre-2023 vs. Post-2023 AI Boom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</a:defRPr>
            </a:pPr>
            <a:r>
              <a:t>Test: Train a Lasso model ONLY on pre-2023 data, then evaluate on post-2023 AI era quarters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Train Period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Period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Lasso RMSE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(Frozen Pre-2023)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Naive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AMZN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≤ 2022 (n=23)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2023+ (n=14)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0.1041  (3.0× worse)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0.0347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GOOGL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≤ 2022 (n=8)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2023+ (n=14)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0.2148  (2.6× worse)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0.0816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MSFT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≤ 2022 (n=25)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2023+ (n=14)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0.1423  (1.9× worse)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0.0740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•  H₃ (Regime Shift) is PARTIALLY CONFIRMED: pre-2023 models collapse 2–3× on post-2023 data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•  BUT this is NOT because capex became a stronger predictor — Lasso capex coefficients DROP to exactly 0.000 in BOTH eras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•  The shift is driven by volatility and level changes in cloud growth itself (AI infrastructure boom effects)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•  The autoregressive term (last quarter's growth) remains the only meaningful predictor in both regimes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Model Interpretation: The Zero-Capex Phenomenon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Pre-2023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Coefficient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Post-2023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Coefficient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capex_yoy_lag1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capex_yoy_lag2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capex_yoy_lag3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-0.000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capex_yoy_lag4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fed_funds_chg_yoy_lag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-0.008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-0.021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capex_to_rev_lag1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-0.019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fcf_margin_lag1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-0.014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debt_yoy_lag1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0.037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cloud_yoy_lag1 (AR term)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0.124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0.096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All 4 capex growth lags are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regularized to exactly 0.000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by Lasso in BOTH eras.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The only dominant predictor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is the autoregressive term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(last quarter's cloud growth).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This does NOT mean capex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doesn't create revenue —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it means the conversion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horizon is multi-year, not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1–4 quarters, and recent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capex is absorbed by internal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AI R&amp;D (Gemini, Copilot, Llama),</a:t>
            </a:r>
          </a:p>
          <a:p>
            <a:pPr>
              <a:spcAft>
                <a:spcPts val="400"/>
              </a:spcAft>
              <a:defRPr sz="1200">
                <a:solidFill>
                  <a:srgbClr val="1B5E6B"/>
                </a:solidFill>
              </a:defRPr>
            </a:pPr>
            <a:r>
              <a:t>not immediate customer billing.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Strategic Recommendations for C-Level Executives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24688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000" b="1">
                <a:solidFill>
                  <a:srgbClr val="C5A55A"/>
                </a:solidFill>
              </a:defRPr>
            </a:pPr>
            <a:r>
              <a:t>Recommendation 1</a:t>
            </a:r>
          </a:p>
          <a:p>
            <a:pPr>
              <a:spcBef>
                <a:spcPts val="400"/>
              </a:spcBef>
              <a:defRPr sz="1600" b="1">
                <a:solidFill>
                  <a:srgbClr val="1B5E6B"/>
                </a:solidFill>
              </a:defRPr>
            </a:pPr>
            <a:r>
              <a:t>Decouple Cloud Revenue Guidance</a:t>
            </a:r>
            <a:br/>
            <a:r>
              <a:t>from Capex Announcements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• Stop using quarterly capex figures as a proxy for</a:t>
            </a:r>
            <a:br/>
            <a:r>
              <a:t>  1–4 quarter cloud revenue acceleration</a:t>
            </a:r>
            <a:br/>
            <a:r>
              <a:t>• Base guidance on Remaining Performance</a:t>
            </a:r>
            <a:br/>
            <a:r>
              <a:t>  Obligations (RPO) and organic momentum instead</a:t>
            </a:r>
            <a:br/>
            <a:r>
              <a:t>• Eliminates multi-billion-dollar forecast overshoots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24688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B5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defRPr sz="1000" b="1">
                <a:solidFill>
                  <a:srgbClr val="C5A55A"/>
                </a:solidFill>
              </a:defRPr>
            </a:pPr>
            <a:r>
              <a:t>Recommendation 2</a:t>
            </a:r>
          </a:p>
          <a:p>
            <a:pPr>
              <a:spcBef>
                <a:spcPts val="400"/>
              </a:spcBef>
              <a:defRPr sz="1600" b="1">
                <a:solidFill>
                  <a:srgbClr val="1B5E6B"/>
                </a:solidFill>
              </a:defRPr>
            </a:pPr>
            <a:r>
              <a:t>Implement Adaptive Scenario-Based</a:t>
            </a:r>
            <a:br/>
            <a:r>
              <a:t>Capacity Planning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• Post-2023 shows increased sensitivity to interest</a:t>
            </a:r>
            <a:br/>
            <a:r>
              <a:t>  rate changes and debt leverage conditions</a:t>
            </a:r>
            <a:br/>
            <a:r>
              <a:t>• Stage GPU capacity in modular tranches with</a:t>
            </a:r>
            <a:br/>
            <a:r>
              <a:t>  flexible lease options for macro downside scenarios</a:t>
            </a:r>
            <a:br/>
            <a:r>
              <a:t>• Monitor ROIC at datacenter cluster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5E6B"/>
                </a:solidFill>
              </a:defRPr>
            </a:pPr>
            <a:r>
              <a:t>Three Core Evidence-Based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Finding 1 (H₁ Rejected):  Capex growth lags 1–4Q have zero predictive power — Lasso eliminates all coefficients to 0.000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Finding 2 (H₂ Rejected):  Naive Persistence Baseline wins or ties vs. all ML models for AMZN and GOOGL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Finding 3 (H₃ Partial):   Pre-2023 models collapse 2–3× on post-2023 data, but capex is NOT the driver of the regime shift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8600"/>
            <a:ext cx="548640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5E6B"/>
                </a:solidFill>
              </a:defRPr>
            </a:pPr>
            <a:r>
              <a:t>2030 Scenarios, Limitations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1645920" cy="54864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5E6B"/>
                </a:solidFill>
              </a:defRPr>
            </a:pPr>
            <a:r>
              <a:t>Illustrative 2030 Cloud Revenue Scenarios (Explicit Assumptions, NOT ML Forecasts)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6400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Annual Growth Assumption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Risk Profile</a:t>
                      </a:r>
                    </a:p>
                  </a:txBody>
                  <a:tcPr>
                    <a:solidFill>
                      <a:srgbClr val="1B5E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Bear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5% YoY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GPU commoditization, AI monetization plateau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15% YoY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Steady migration + moderate AI capture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Bull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30% YoY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Transformative enterprise AI + sovereign cloud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5E6B"/>
                </a:solidFill>
              </a:defRPr>
            </a:pPr>
            <a:r>
              <a:t>Methodological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Small quarterly samples (N = 22–39 per ticker)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Capex is aggregated (AI + generic infra)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Segment recasts create discontinuities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MAPE unstable near zero-growth quarters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5E6B"/>
                </a:solidFill>
              </a:defRPr>
            </a:pPr>
            <a:r>
              <a:t>Recommended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7490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Incorporate GPU export tracking data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Add datacenter power interconnect filings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NLP sentiment from earnings call transcripts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•  Test multi-year (4–8Q) transmission lags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303520"/>
            <a:ext cx="12191695" cy="1097280"/>
          </a:xfrm>
          <a:prstGeom prst="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5394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Thank You — Questions &amp;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5A55A"/>
                </a:solidFill>
              </a:defRPr>
            </a:pPr>
            <a:r>
              <a:t>Tita Noviana (40%)  •  Suci Fransisca Sisilia R (40%)  •  Nadira Dika Kaivalya (20%)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1472</Words>
  <Application>Microsoft Office PowerPoint</Application>
  <PresentationFormat>Widescreen</PresentationFormat>
  <Paragraphs>297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2026-10-18T13:10:53Z</dcterms:modified>
  <cp:category/>
</cp:coreProperties>
</file>